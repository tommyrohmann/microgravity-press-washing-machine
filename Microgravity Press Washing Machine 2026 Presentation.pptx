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70" r:id="rId8"/>
    <p:sldId id="267" r:id="rId9"/>
    <p:sldId id="269" r:id="rId10"/>
    <p:sldId id="266" r:id="rId11"/>
    <p:sldId id="262" r:id="rId12"/>
    <p:sldId id="263" r:id="rId13"/>
    <p:sldId id="264" r:id="rId14"/>
    <p:sldId id="265" r:id="rId15"/>
    <p:sldId id="271" r:id="rId16"/>
    <p:sldId id="272" r:id="rId17"/>
    <p:sldId id="277" r:id="rId18"/>
    <p:sldId id="273" r:id="rId19"/>
    <p:sldId id="274" r:id="rId20"/>
    <p:sldId id="275" r:id="rId21"/>
    <p:sldId id="276" r:id="rId22"/>
    <p:sldId id="261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50" d="100"/>
          <a:sy n="50" d="100"/>
        </p:scale>
        <p:origin x="926" y="3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my Rohmann" userId="dcdf7eb514dfaeec" providerId="LiveId" clId="{AC19BF03-1140-4048-925B-5E009EEC4DD8}"/>
    <pc:docChg chg="addSld modSld sldOrd">
      <pc:chgData name="Tommy Rohmann" userId="dcdf7eb514dfaeec" providerId="LiveId" clId="{AC19BF03-1140-4048-925B-5E009EEC4DD8}" dt="2026-06-14T18:44:00.026" v="302" actId="20577"/>
      <pc:docMkLst>
        <pc:docMk/>
      </pc:docMkLst>
      <pc:sldChg chg="modSp mod">
        <pc:chgData name="Tommy Rohmann" userId="dcdf7eb514dfaeec" providerId="LiveId" clId="{AC19BF03-1140-4048-925B-5E009EEC4DD8}" dt="2026-06-14T18:41:54.576" v="14" actId="20577"/>
        <pc:sldMkLst>
          <pc:docMk/>
          <pc:sldMk cId="3767057724" sldId="263"/>
        </pc:sldMkLst>
        <pc:spChg chg="mod">
          <ac:chgData name="Tommy Rohmann" userId="dcdf7eb514dfaeec" providerId="LiveId" clId="{AC19BF03-1140-4048-925B-5E009EEC4DD8}" dt="2026-06-14T18:41:54.576" v="14" actId="20577"/>
          <ac:spMkLst>
            <pc:docMk/>
            <pc:sldMk cId="3767057724" sldId="263"/>
            <ac:spMk id="3" creationId="{6AEAA91E-B846-D5F4-96C8-60E799741FBB}"/>
          </ac:spMkLst>
        </pc:spChg>
      </pc:sldChg>
      <pc:sldChg chg="ord">
        <pc:chgData name="Tommy Rohmann" userId="dcdf7eb514dfaeec" providerId="LiveId" clId="{AC19BF03-1140-4048-925B-5E009EEC4DD8}" dt="2026-06-14T18:42:20.568" v="18"/>
        <pc:sldMkLst>
          <pc:docMk/>
          <pc:sldMk cId="3472941452" sldId="277"/>
        </pc:sldMkLst>
      </pc:sldChg>
      <pc:sldChg chg="modSp new mod">
        <pc:chgData name="Tommy Rohmann" userId="dcdf7eb514dfaeec" providerId="LiveId" clId="{AC19BF03-1140-4048-925B-5E009EEC4DD8}" dt="2026-06-14T18:43:43.858" v="270" actId="20577"/>
        <pc:sldMkLst>
          <pc:docMk/>
          <pc:sldMk cId="1458776076" sldId="278"/>
        </pc:sldMkLst>
        <pc:spChg chg="mod">
          <ac:chgData name="Tommy Rohmann" userId="dcdf7eb514dfaeec" providerId="LiveId" clId="{AC19BF03-1140-4048-925B-5E009EEC4DD8}" dt="2026-06-14T18:42:31.170" v="40" actId="20577"/>
          <ac:spMkLst>
            <pc:docMk/>
            <pc:sldMk cId="1458776076" sldId="278"/>
            <ac:spMk id="2" creationId="{6935F770-9032-CE83-3A1F-F8AC1576B512}"/>
          </ac:spMkLst>
        </pc:spChg>
        <pc:spChg chg="mod">
          <ac:chgData name="Tommy Rohmann" userId="dcdf7eb514dfaeec" providerId="LiveId" clId="{AC19BF03-1140-4048-925B-5E009EEC4DD8}" dt="2026-06-14T18:43:43.858" v="270" actId="20577"/>
          <ac:spMkLst>
            <pc:docMk/>
            <pc:sldMk cId="1458776076" sldId="278"/>
            <ac:spMk id="3" creationId="{21A4A4E1-D794-F0DB-5E83-0E66EEA82D79}"/>
          </ac:spMkLst>
        </pc:spChg>
      </pc:sldChg>
      <pc:sldChg chg="modSp new mod">
        <pc:chgData name="Tommy Rohmann" userId="dcdf7eb514dfaeec" providerId="LiveId" clId="{AC19BF03-1140-4048-925B-5E009EEC4DD8}" dt="2026-06-14T18:44:00.026" v="302" actId="20577"/>
        <pc:sldMkLst>
          <pc:docMk/>
          <pc:sldMk cId="3524768296" sldId="279"/>
        </pc:sldMkLst>
        <pc:spChg chg="mod">
          <ac:chgData name="Tommy Rohmann" userId="dcdf7eb514dfaeec" providerId="LiveId" clId="{AC19BF03-1140-4048-925B-5E009EEC4DD8}" dt="2026-06-14T18:43:56.310" v="291" actId="20577"/>
          <ac:spMkLst>
            <pc:docMk/>
            <pc:sldMk cId="3524768296" sldId="279"/>
            <ac:spMk id="2" creationId="{792BDB31-003D-03D0-0729-9769EE532A15}"/>
          </ac:spMkLst>
        </pc:spChg>
        <pc:spChg chg="mod">
          <ac:chgData name="Tommy Rohmann" userId="dcdf7eb514dfaeec" providerId="LiveId" clId="{AC19BF03-1140-4048-925B-5E009EEC4DD8}" dt="2026-06-14T18:44:00.026" v="302" actId="20577"/>
          <ac:spMkLst>
            <pc:docMk/>
            <pc:sldMk cId="3524768296" sldId="279"/>
            <ac:spMk id="3" creationId="{01EDF99E-A191-0D6D-11FC-4332CA8B0AA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27606-622D-6570-EFDA-B2FB69E5D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D8B79-3F0B-99BE-454D-0D735B07D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543D4-E576-FC32-6D72-BEA99B25F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935F-A9E6-448B-B87C-E474314A8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19B76-F28F-0659-5EC7-CCA5F48E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71900-DAF3-28A7-FE24-FDEBD988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75A2-2760-4EFE-80CB-353A558B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14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C2AF-9998-3BED-1EE0-D7DB892E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E5721-0E4E-1742-1B56-E8BEBF35B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C93D2-6294-8D51-E6DE-6A09A3334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935F-A9E6-448B-B87C-E474314A8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0F95C-ECA3-E9B9-1B06-A1CCED3F6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62C61-003D-2792-1B98-F4CBBF517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75A2-2760-4EFE-80CB-353A558B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14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8B769-6220-B366-D7D5-9DBC3BF25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60ED0-F66F-4195-924D-0AD786B77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B11FD-1DDF-08D9-A7C1-7EA1E113D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935F-A9E6-448B-B87C-E474314A8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5D63C-955C-0EDE-25CD-FFF43D482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65DA9-D192-3AE9-A9AA-98E2B6338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75A2-2760-4EFE-80CB-353A558B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2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CCA35-A581-AA4D-CD47-29FB460B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7EE70-1827-D542-7C02-E73514147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67EBE-BF49-789D-6D11-66DA85550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D447D-F4A6-D48C-B413-A11FA9579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935F-A9E6-448B-B87C-E474314A8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B4C24-98BC-24B6-3988-2B6E36D65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F9FE3-A557-4E49-D589-719EA8E01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75A2-2760-4EFE-80CB-353A558B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23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2971A-E794-E91E-57A4-2EF056D5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6613B-38AE-D89C-7677-94EC22AD1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9E666-1356-4458-D4E3-C1FD22722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AC53E-DBD8-B4C3-FF29-C0CA74BB8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3B256-C82A-0425-163B-1D727F63B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33C25-D967-E5EB-1F81-ED7388FF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935F-A9E6-448B-B87C-E474314A8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1D3577-A7F3-A7F2-A586-8584104B8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7D95E4-914E-65B7-5E41-DA311353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75A2-2760-4EFE-80CB-353A558B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52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31DE-C98D-2DEA-BAA6-52E32305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8AC1F-FD19-C90E-DF0A-C4EC3E3CF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935F-A9E6-448B-B87C-E474314A8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20DBB-C093-CDB5-8BCB-B7E83694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689BF-BAE6-D1AF-8D30-F1D110C56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75A2-2760-4EFE-80CB-353A558B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2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446ECC-E8B2-9DEF-BB7F-BBDE44960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935F-A9E6-448B-B87C-E474314A8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83C79D-1717-3688-A9EA-9D2403BD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1DD92-DB98-706C-EBD6-60578A4EF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75A2-2760-4EFE-80CB-353A558B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02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F88E-28CA-FB76-1FD4-6FEF3D789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116DB-17A4-A9B0-B392-FA2AEAFD0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59915-15BB-4629-DA04-0AA0DF47D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BF1F0-C645-F1DB-8E5C-F7CD86410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935F-A9E6-448B-B87C-E474314A8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9BB71-0DE8-9476-4838-E3BDAD438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72924-2F23-3DC1-F725-55FF39769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75A2-2760-4EFE-80CB-353A558B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5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82B2-9A86-E89E-672E-1FD96D571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E97ED7-C395-8300-7AB7-A1F524D42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B0C7C-19DE-1509-8A2E-D3FBDDD1E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C1EA8-ACF3-51EA-E310-41968F673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935F-A9E6-448B-B87C-E474314A8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F9B33-829D-48C1-D67F-2FE2D56AB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0A7C2-6015-6849-DECD-3E9C12411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75A2-2760-4EFE-80CB-353A558B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6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50ED4-6706-5347-35B7-4484FE762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3CE79-03D1-9A64-7376-5F4DF53DD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CE710-E5C2-1057-5C09-8E1D1C2D2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935F-A9E6-448B-B87C-E474314A8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7AE8C-472D-EF0A-7C59-51D5147B6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B7DA7-3C4E-C37A-AA0D-6B42DB0E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75A2-2760-4EFE-80CB-353A558B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7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71D89-78B9-369E-3D97-34AD92239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92A52-2CDD-CC6C-B3D3-9E182678C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FF82E-FB3B-538E-7DF9-25FB19B1D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935F-A9E6-448B-B87C-E474314A8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1EC95-E7FB-B6AD-9219-A273786E5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FA2A4-B760-D600-5658-A2F440F6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75A2-2760-4EFE-80CB-353A558B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58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467D45-0D5E-71F5-FDB8-EE664E4B3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8185B-53E0-29FD-8C6B-2A46404D4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C86F6-66E5-83D9-D441-7A2C4BCAE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A935F-A9E6-448B-B87C-E474314A8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4FC7F-7ED8-DE3A-C356-61C105E19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01B04-93DF-F795-64D5-E33B62992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175A2-2760-4EFE-80CB-353A558B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41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F5F4-1D0F-607F-0A77-745622DD8B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Microgravity Press Washing Machine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15D03-93FF-83DA-CB51-943AB00220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87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A7D78-8558-5E87-6D59-4FD24E80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D462C-1E18-CD4A-13C5-237BD034B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 of Working Principle and Background</a:t>
            </a:r>
          </a:p>
          <a:p>
            <a:r>
              <a:rPr lang="en-US" dirty="0"/>
              <a:t>Design Evolution</a:t>
            </a:r>
          </a:p>
          <a:p>
            <a:r>
              <a:rPr lang="en-US" dirty="0"/>
              <a:t>Current Design</a:t>
            </a:r>
          </a:p>
        </p:txBody>
      </p:sp>
    </p:spTree>
    <p:extLst>
      <p:ext uri="{BB962C8B-B14F-4D97-AF65-F5344CB8AC3E}">
        <p14:creationId xmlns:p14="http://schemas.microsoft.com/office/powerpoint/2010/main" val="112311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502DF-289E-F2E7-E003-289BDB87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Please Interject With Questions or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AA41E-D5A9-881B-76EB-00A1FFCCF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me know if you think the design does not seem suitable for space applications for any reason!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NASA isn’t going to want to use something like this for an aspect of how the design works inherently, I would like to know before building it/developing it more!</a:t>
            </a:r>
          </a:p>
        </p:txBody>
      </p:sp>
    </p:spTree>
    <p:extLst>
      <p:ext uri="{BB962C8B-B14F-4D97-AF65-F5344CB8AC3E}">
        <p14:creationId xmlns:p14="http://schemas.microsoft.com/office/powerpoint/2010/main" val="1158789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EE3395-F6E5-AF32-2795-96E29B3DF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07" y="656737"/>
            <a:ext cx="4844005" cy="6201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A42F00-01F1-C4DD-10A8-04A2928F2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176" y="807661"/>
            <a:ext cx="5265417" cy="651044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4AC4989-6F05-F62A-ED9A-DD84E4B0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91" y="-129550"/>
            <a:ext cx="10515600" cy="1325563"/>
          </a:xfrm>
        </p:spPr>
        <p:txBody>
          <a:bodyPr/>
          <a:lstStyle/>
          <a:p>
            <a:r>
              <a:rPr lang="en-US" dirty="0"/>
              <a:t>Principles of Old Design</a:t>
            </a:r>
          </a:p>
        </p:txBody>
      </p:sp>
    </p:spTree>
    <p:extLst>
      <p:ext uri="{BB962C8B-B14F-4D97-AF65-F5344CB8AC3E}">
        <p14:creationId xmlns:p14="http://schemas.microsoft.com/office/powerpoint/2010/main" val="3975880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6B5E6-DFF1-303E-2B63-2EA991B2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 of Old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629A5-43C1-50E6-22C2-4300124F9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1757"/>
            <a:ext cx="4643740" cy="49885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99603F-A6C4-8FA5-0404-6E06A80FE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647" y="1356513"/>
            <a:ext cx="4490795" cy="5419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C9EE2C-6BF4-BBE6-6622-B10547563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408" y="1690688"/>
            <a:ext cx="4284582" cy="511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51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841D-162D-B02E-503A-A57EED2FA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– Clothing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8533A-4F58-7E62-8D2C-91B6535FC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Loosely Packed Volume: Space taken up by clothing item uncompressed. Convenient chamber volume for a user to place clothing in wash chamber.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True Volume: How much water would the clothing displace?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Compressed Volume: Space taken by clothing item when compressed to maximum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Vc</a:t>
            </a:r>
            <a:r>
              <a:rPr lang="en-US" dirty="0"/>
              <a:t> – Vt = max extractable water by compression</a:t>
            </a:r>
          </a:p>
        </p:txBody>
      </p:sp>
    </p:spTree>
    <p:extLst>
      <p:ext uri="{BB962C8B-B14F-4D97-AF65-F5344CB8AC3E}">
        <p14:creationId xmlns:p14="http://schemas.microsoft.com/office/powerpoint/2010/main" val="3455232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D573D-9537-1C95-EC7F-D8B562D1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Agitation Mechanism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BCA8C-49E1-1D33-F475-C3CEFDEC3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previous prototypes, testing showed that agitation by displacing water was not particularly good until compression was above 400 </a:t>
            </a:r>
            <a:r>
              <a:rPr lang="en-US" dirty="0" err="1"/>
              <a:t>lbf</a:t>
            </a:r>
            <a:r>
              <a:rPr lang="en-US" dirty="0"/>
              <a:t> (~30 psi on 4” </a:t>
            </a:r>
            <a:r>
              <a:rPr lang="en-US" dirty="0" err="1"/>
              <a:t>dia</a:t>
            </a:r>
            <a:r>
              <a:rPr lang="en-US" dirty="0"/>
              <a:t> piston)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probably because at this pressure, folds on clothing compress to where water must flow through fibers of clothing in order to flow out of chamber.</a:t>
            </a:r>
          </a:p>
        </p:txBody>
      </p:sp>
    </p:spTree>
    <p:extLst>
      <p:ext uri="{BB962C8B-B14F-4D97-AF65-F5344CB8AC3E}">
        <p14:creationId xmlns:p14="http://schemas.microsoft.com/office/powerpoint/2010/main" val="3437986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E93E-FA81-A0C8-E2AE-E5FA22AB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Details of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D7969-D8B1-8206-C365-E5BAA4E6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Fluid Pressure is not high. Fluid is displaced and flows freely around clothing item.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Think about what the air pressure around a compressed spring is, ambient!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holds true as long as flow is low and resistance to flow is minimal. This is a slowish process!</a:t>
            </a:r>
          </a:p>
        </p:txBody>
      </p:sp>
    </p:spTree>
    <p:extLst>
      <p:ext uri="{BB962C8B-B14F-4D97-AF65-F5344CB8AC3E}">
        <p14:creationId xmlns:p14="http://schemas.microsoft.com/office/powerpoint/2010/main" val="212847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FA7E-A3EB-BCF2-E2C4-13D560333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Wash Process Expected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9CD6D-5EC5-705A-0E3A-B0F7E3083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Design would be good at removing dissolvable and liquid contaminants.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Likely not suitable for handling regolith without adding more components/would need more research.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a planetary mission, a suitable washing machine would likely be more like a modern industrial washing machine, though this design might be useful during transit when listed design requirements are applicable</a:t>
            </a:r>
          </a:p>
        </p:txBody>
      </p:sp>
    </p:spTree>
    <p:extLst>
      <p:ext uri="{BB962C8B-B14F-4D97-AF65-F5344CB8AC3E}">
        <p14:creationId xmlns:p14="http://schemas.microsoft.com/office/powerpoint/2010/main" val="119465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E9A2-1823-8B25-9438-B8F5329A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4E7D5-0D60-DAD3-4D75-0E9338DE6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Design can do everything in the wash process. hydration, agitation, and removal of dirty water.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Fluid separation maintained, free surface interface problems limited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Wash water consumption is adjustable as needed. Minimum or higher water usage can be used to discretion of user/mission requirements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857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8633-C81A-66B3-C2CE-3AC7987D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and Build of Old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504AE-83BE-FEED-9B94-5BD742FA7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474" y="1549190"/>
            <a:ext cx="3448349" cy="45990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E6AEE3-31CD-32A0-1A40-0F00144C1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783" y="1742523"/>
            <a:ext cx="3773305" cy="337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12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44F0-282D-2D26-0CC6-F0E68655E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Old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AA91E-B846-D5F4-96C8-60E799741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Nothing disqualifying, but there are some confounding issues with this prototype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Space aligned with the piston is most important, and limited by a key problem.</a:t>
            </a:r>
          </a:p>
          <a:p>
            <a:pPr marL="0" indent="0">
              <a:buNone/>
            </a:pPr>
            <a:r>
              <a:rPr lang="en-US" dirty="0"/>
              <a:t>- Many members of the frame need to be large to transfer load, and </a:t>
            </a:r>
          </a:p>
          <a:p>
            <a:pPr marL="0" indent="0">
              <a:buNone/>
            </a:pPr>
            <a:r>
              <a:rPr lang="en-US" dirty="0"/>
              <a:t>- Lots of sensors used that may not be needed</a:t>
            </a:r>
          </a:p>
          <a:p>
            <a:pPr marL="0" indent="0">
              <a:buNone/>
            </a:pPr>
            <a:r>
              <a:rPr lang="en-US" dirty="0"/>
              <a:t>- Complicated to prototype!</a:t>
            </a:r>
          </a:p>
        </p:txBody>
      </p:sp>
    </p:spTree>
    <p:extLst>
      <p:ext uri="{BB962C8B-B14F-4D97-AF65-F5344CB8AC3E}">
        <p14:creationId xmlns:p14="http://schemas.microsoft.com/office/powerpoint/2010/main" val="3767057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C34F7-9356-F0FF-6756-9B7265CA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Piston Problem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092EFF-2347-02FD-59CD-BA19163B5B18}"/>
              </a:ext>
            </a:extLst>
          </p:cNvPr>
          <p:cNvCxnSpPr/>
          <p:nvPr/>
        </p:nvCxnSpPr>
        <p:spPr>
          <a:xfrm>
            <a:off x="1591519" y="3727048"/>
            <a:ext cx="0" cy="2297575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41C0DE-74B9-631E-E4BF-54DC0AA866A3}"/>
              </a:ext>
            </a:extLst>
          </p:cNvPr>
          <p:cNvCxnSpPr/>
          <p:nvPr/>
        </p:nvCxnSpPr>
        <p:spPr>
          <a:xfrm>
            <a:off x="2814577" y="3727048"/>
            <a:ext cx="0" cy="2297575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3885C2-CAD9-F96F-FC9E-E3C0E172AE99}"/>
              </a:ext>
            </a:extLst>
          </p:cNvPr>
          <p:cNvCxnSpPr/>
          <p:nvPr/>
        </p:nvCxnSpPr>
        <p:spPr>
          <a:xfrm>
            <a:off x="2201119" y="2172182"/>
            <a:ext cx="0" cy="2297575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767BF7-9A36-BF93-9CFC-088FF9AB8E1D}"/>
              </a:ext>
            </a:extLst>
          </p:cNvPr>
          <p:cNvCxnSpPr>
            <a:cxnSpLocks/>
          </p:cNvCxnSpPr>
          <p:nvPr/>
        </p:nvCxnSpPr>
        <p:spPr>
          <a:xfrm flipH="1">
            <a:off x="1665790" y="4469757"/>
            <a:ext cx="1070658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F16D21-6B80-B2F4-AF58-D39F95B3DDE9}"/>
              </a:ext>
            </a:extLst>
          </p:cNvPr>
          <p:cNvCxnSpPr>
            <a:cxnSpLocks/>
          </p:cNvCxnSpPr>
          <p:nvPr/>
        </p:nvCxnSpPr>
        <p:spPr>
          <a:xfrm flipH="1" flipV="1">
            <a:off x="1546185" y="6022694"/>
            <a:ext cx="1268392" cy="1929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F13291C-5BC1-255B-6D1A-50728FB35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830" y="1848774"/>
            <a:ext cx="63033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2x travel distance required for piston to travel due to need for a piston rod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Travel is cut down further from available space due to required width of pistons, structure, hatch,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Sets hard limit on machine size.</a:t>
            </a:r>
          </a:p>
        </p:txBody>
      </p:sp>
    </p:spTree>
    <p:extLst>
      <p:ext uri="{BB962C8B-B14F-4D97-AF65-F5344CB8AC3E}">
        <p14:creationId xmlns:p14="http://schemas.microsoft.com/office/powerpoint/2010/main" val="2341935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B1D1-429E-E8AE-66D4-565A8526E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Piston Rod Volume Allowance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6B6EC-C923-C973-0A84-B9AFD423B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closed chamber, the rod takes up space as the piston extends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handle this, chamber diameter needs to change</a:t>
            </a:r>
          </a:p>
        </p:txBody>
      </p:sp>
    </p:spTree>
    <p:extLst>
      <p:ext uri="{BB962C8B-B14F-4D97-AF65-F5344CB8AC3E}">
        <p14:creationId xmlns:p14="http://schemas.microsoft.com/office/powerpoint/2010/main" val="2446118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E9EAA-B725-E3B5-D594-FBDA27E71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Past a Linear Actuator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AFE90-677D-9568-7903-3AEB0FF4D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core design seems promising, but it got to be complicated making the hardware.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 could have built the design using linear actuators and simplified things, but it would be great to use space more efficiently, and simplify the design.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else can this pressure be achieved?</a:t>
            </a:r>
          </a:p>
          <a:p>
            <a:pPr marL="0" indent="0">
              <a:buNone/>
            </a:pPr>
            <a:r>
              <a:rPr lang="en-US" dirty="0"/>
              <a:t>Hydraulics, pneumatics, etc.</a:t>
            </a:r>
          </a:p>
        </p:txBody>
      </p:sp>
    </p:spTree>
    <p:extLst>
      <p:ext uri="{BB962C8B-B14F-4D97-AF65-F5344CB8AC3E}">
        <p14:creationId xmlns:p14="http://schemas.microsoft.com/office/powerpoint/2010/main" val="1518374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3388E-C7AA-9515-3774-6AB1100A4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Floating Piston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CEC17-2511-9314-7813-488CB12AF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 the old design, the wash chamber/machine itself was the pump. Now the pump is moved outside, and the piston is moved by fluid pressure.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 piston rod, no volume compensation needed.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 unused space for a piston rod.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Fewer locations for a leak to the environment to appear.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Fewer Sensors. Only pressure required, optional means of determining piston position if desired.</a:t>
            </a:r>
          </a:p>
        </p:txBody>
      </p:sp>
    </p:spTree>
    <p:extLst>
      <p:ext uri="{BB962C8B-B14F-4D97-AF65-F5344CB8AC3E}">
        <p14:creationId xmlns:p14="http://schemas.microsoft.com/office/powerpoint/2010/main" val="2109098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BED5-F83A-B144-5688-01F634D3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Rudimentary Operation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97EB34-DFA1-1615-5517-3AA88C8A8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557526"/>
            <a:ext cx="6868658" cy="51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41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26AA-3BA9-27FF-06D7-3CAE2245B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 of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096B3-9C96-1704-1E9F-E29788683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we are dealing with fluid pressure, and the possibility of a leak into the environment.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That said, this may not be as big of an issue…</a:t>
            </a:r>
          </a:p>
        </p:txBody>
      </p:sp>
    </p:spTree>
    <p:extLst>
      <p:ext uri="{BB962C8B-B14F-4D97-AF65-F5344CB8AC3E}">
        <p14:creationId xmlns:p14="http://schemas.microsoft.com/office/powerpoint/2010/main" val="3436037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D275D-32C8-8955-497D-B0E17D9B4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50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Required fluid pressure for needed compression is less than that of residential water.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Wash chamber is a fixed size, a leak will result in a detectable loss in pressure.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Leaks are only limited to the volume of water used during a wash cycle.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are systems that can be implemented to detect bad sealing before a wash cycle, and detect a leak during the wash process.</a:t>
            </a:r>
          </a:p>
        </p:txBody>
      </p:sp>
    </p:spTree>
    <p:extLst>
      <p:ext uri="{BB962C8B-B14F-4D97-AF65-F5344CB8AC3E}">
        <p14:creationId xmlns:p14="http://schemas.microsoft.com/office/powerpoint/2010/main" val="229743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07788-0E5C-7F32-15B5-F1B05A11C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Hatch Leak-off 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F372F-1454-49A2-DF6F-C861483FF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7360" y="2237422"/>
            <a:ext cx="549402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Suction taken on hatch seals prior to process.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pressure isn’t held, process wont start.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pressure drops during process, process aborted, water will leak into leak off port instead of environment.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7AED24-E596-D9E6-6206-6D4D6F2D08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72" t="7445" r="22936" b="13889"/>
          <a:stretch>
            <a:fillRect/>
          </a:stretch>
        </p:blipFill>
        <p:spPr>
          <a:xfrm rot="5400000">
            <a:off x="742180" y="2275340"/>
            <a:ext cx="4191000" cy="399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865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9E776-4FF6-76BD-AB10-52C668404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Pressure-Leak Contingency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4E200-286C-3E91-6C90-CE43064FA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780" y="1825625"/>
            <a:ext cx="549402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High fluid pressure is separated by multiple stages of seals inherently from likely leak points</a:t>
            </a:r>
          </a:p>
          <a:p>
            <a:pPr marL="0" indent="0">
              <a:buNone/>
            </a:pPr>
            <a:r>
              <a:rPr lang="en-US" dirty="0"/>
              <a:t>(the hatch mainly)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 can be detected as an abnormal pressure reading during the process.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B9EC71-519F-ADC4-6654-6B7B2E778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15" t="14334" r="16515" b="16222"/>
          <a:stretch>
            <a:fillRect/>
          </a:stretch>
        </p:blipFill>
        <p:spPr>
          <a:xfrm rot="5400000">
            <a:off x="577352" y="2187595"/>
            <a:ext cx="4667253" cy="362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09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FB32C-5DC2-D158-1B2A-912D94B5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CAD Model Mock-Up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F30D3-59ED-F09D-C0B7-D457DEBBA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414" y="934320"/>
            <a:ext cx="3229586" cy="54065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B20CD7-6052-7EE2-32F5-399F2280E8F6}"/>
              </a:ext>
            </a:extLst>
          </p:cNvPr>
          <p:cNvSpPr txBox="1"/>
          <p:nvPr/>
        </p:nvSpPr>
        <p:spPr>
          <a:xfrm>
            <a:off x="739140" y="2446020"/>
            <a:ext cx="63322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the design doesn’t require any specific placement of items, the design of the frame is less important.</a:t>
            </a:r>
          </a:p>
          <a:p>
            <a:endParaRPr lang="en-US" dirty="0"/>
          </a:p>
          <a:p>
            <a:r>
              <a:rPr lang="en-US" dirty="0"/>
              <a:t>This picture just gives a sense of size for the components. Everything can be placed wherever needed, and connected by pipes/tubing.</a:t>
            </a:r>
          </a:p>
        </p:txBody>
      </p:sp>
    </p:spTree>
    <p:extLst>
      <p:ext uri="{BB962C8B-B14F-4D97-AF65-F5344CB8AC3E}">
        <p14:creationId xmlns:p14="http://schemas.microsoft.com/office/powerpoint/2010/main" val="3518698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F770-9032-CE83-3A1F-F8AC1576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the end of the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4A4E1-D794-F0DB-5E83-0E66EEA82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will be easier for me to manufacture.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Fewer custom parts. Can rely more on off the shelf components. Will be MUCH easier to make edits to the hardware, disassemble and fix, etc.</a:t>
            </a:r>
          </a:p>
        </p:txBody>
      </p:sp>
    </p:spTree>
    <p:extLst>
      <p:ext uri="{BB962C8B-B14F-4D97-AF65-F5344CB8AC3E}">
        <p14:creationId xmlns:p14="http://schemas.microsoft.com/office/powerpoint/2010/main" val="1458776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DB31-003D-03D0-0729-9769EE532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DF99E-A191-0D6D-11FC-4332CA8B0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524768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950</Words>
  <Application>Microsoft Office PowerPoint</Application>
  <PresentationFormat>Widescreen</PresentationFormat>
  <Paragraphs>110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Microgravity Press Washing Machine 2026</vt:lpstr>
      <vt:lpstr>Goals of Presentation</vt:lpstr>
      <vt:lpstr>Please Interject With Questions or Comments</vt:lpstr>
      <vt:lpstr>Principles of Old Design</vt:lpstr>
      <vt:lpstr>Operation of Old Design</vt:lpstr>
      <vt:lpstr>Background – Clothing Volume</vt:lpstr>
      <vt:lpstr>Agitation Mechanism Findings</vt:lpstr>
      <vt:lpstr>Important Details of Design</vt:lpstr>
      <vt:lpstr>Wash Process Expected Capabilities</vt:lpstr>
      <vt:lpstr>Advantages</vt:lpstr>
      <vt:lpstr>Design and Build of Old Design</vt:lpstr>
      <vt:lpstr>Problems with Old Design</vt:lpstr>
      <vt:lpstr>The Piston Problem</vt:lpstr>
      <vt:lpstr>Piston Rod Volume Allowance</vt:lpstr>
      <vt:lpstr>Moving Past a Linear Actuator</vt:lpstr>
      <vt:lpstr>Free Floating Piston Design</vt:lpstr>
      <vt:lpstr>Rudimentary Operation Diagram</vt:lpstr>
      <vt:lpstr>Disadvantage of Approach</vt:lpstr>
      <vt:lpstr>PowerPoint Presentation</vt:lpstr>
      <vt:lpstr>Hatch Leak-off Ports</vt:lpstr>
      <vt:lpstr>Pressure-Leak Contingency Diagram</vt:lpstr>
      <vt:lpstr>CAD Model Mock-Up</vt:lpstr>
      <vt:lpstr>At the end of the day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Tommy Rohmann</dc:creator>
  <cp:lastModifiedBy>Tommy Rohmann</cp:lastModifiedBy>
  <cp:revision>1</cp:revision>
  <dcterms:created xsi:type="dcterms:W3CDTF">2026-06-14T17:31:15Z</dcterms:created>
  <dcterms:modified xsi:type="dcterms:W3CDTF">2026-06-14T18:44:10Z</dcterms:modified>
</cp:coreProperties>
</file>